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D7A72"/>
          </a:solidFill>
          <a:ln w="12700">
            <a:solidFill>
              <a:srgbClr val="2D7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DF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Latched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 you needed from your IBCLC—available at 3am.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4114800" cy="0"/>
          </a:xfrm>
          <a:prstGeom prst="line">
            <a:avLst/>
          </a:prstGeom>
          <a:noFill/>
          <a:ln w="19050">
            <a:solidFill>
              <a:srgbClr val="C17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29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6-week guided breastfeeding experience for first-time moms.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4727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Ashley Hartwell  ·  Founder &amp; Product Manager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E9E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biggest gap in postpartum care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06040" cy="2743200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5087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11480" y="2606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women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breastfeeding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CDC, 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606040" cy="2743200"/>
          </a:xfrm>
          <a:prstGeom prst="rect">
            <a:avLst/>
          </a:prstGeom>
          <a:solidFill>
            <a:srgbClr val="2D7A72"/>
          </a:solidFill>
          <a:ln w="12700">
            <a:solidFill>
              <a:srgbClr val="2D7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087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3200400" y="2606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breastfeeding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 months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points lost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2606040" cy="274320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5087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27%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5989320" y="2606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exclusively breastfed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6 months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recommendation met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drop-off is concentrated in weeks 0–6—the window with the least reliable support.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2D7A72"/>
          </a:solidFill>
          <a:ln w="12700">
            <a:solidFill>
              <a:srgbClr val="2D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A8D5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SHE 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She’s up at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3am,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one-handed,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nursing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dark.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2944368"/>
            <a:ext cx="146304" cy="146304"/>
          </a:xfrm>
          <a:prstGeom prst="ellipse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898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mom, weeks 0–6 postpartum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3346704"/>
            <a:ext cx="146304" cy="146304"/>
          </a:xfrm>
          <a:prstGeom prst="ellipse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3009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Sleep-deprived, often in physical pain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749040"/>
            <a:ext cx="146304" cy="146304"/>
          </a:xfrm>
          <a:prstGeom prst="ellipse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03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answers now, one-handed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151376"/>
            <a:ext cx="146304" cy="146304"/>
          </a:xfrm>
          <a:prstGeom prst="ellipse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105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paying $150–300 per IBCLC visit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4553712"/>
            <a:ext cx="146304" cy="146304"/>
          </a:xfrm>
          <a:prstGeom prst="ellipse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07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alone and unsure she’s doing it right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200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E9E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SHE NEEDS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6400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apps log feeds.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Latched answers questions.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54864" cy="530352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8105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before instruction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103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the moment before answering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2624328"/>
            <a:ext cx="54864" cy="530352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606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3am access, zero appointment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898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moments don’t wait for office hours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3419856"/>
            <a:ext cx="54864" cy="530352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4015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Week-specific, not generic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694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breastfeeding tips—her exact week, her path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4215384"/>
            <a:ext cx="54864" cy="530352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1970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for her, not for moms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44897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name. Her baby’s name. Her feeding choice.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E9E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3am gap is real—and nobody fills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1993392" cy="269748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53312"/>
            <a:ext cx="1993392" cy="347472"/>
          </a:xfrm>
          <a:prstGeom prst="rect">
            <a:avLst/>
          </a:prstGeom>
          <a:solidFill>
            <a:srgbClr val="2D7A72"/>
          </a:solidFill>
          <a:ln w="12700">
            <a:solidFill>
              <a:srgbClr val="2D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IBCLC In-Person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92224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Highest-quality care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877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1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$150–300/visit. No weekends.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3am.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87168" y="1353312"/>
            <a:ext cx="1993392" cy="269748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353312"/>
            <a:ext cx="1993392" cy="347472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3533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 / SimpliFed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24328" y="1792224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24328" y="20391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Insurance-covered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5877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1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24328" y="28346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Appointment-based. No async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08576" y="1353312"/>
            <a:ext cx="1993392" cy="269748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1353312"/>
            <a:ext cx="1993392" cy="347472"/>
          </a:xfrm>
          <a:prstGeom prst="rect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13533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Reddit / TikTok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45736" y="1792224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45736" y="20391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free, 24/7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5736" y="25877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1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28346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Unvetted. Inconsistent.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personalized.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9984" y="1353312"/>
            <a:ext cx="1993392" cy="269748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29984" y="1353312"/>
            <a:ext cx="1993392" cy="347472"/>
          </a:xfrm>
          <a:prstGeom prst="rect">
            <a:avLst/>
          </a:prstGeom>
          <a:solidFill>
            <a:srgbClr val="8A7F78"/>
          </a:solidFill>
          <a:ln w="12700">
            <a:solidFill>
              <a:srgbClr val="8A7F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9984" y="13533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Huckleberry / Apps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67144" y="1792224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67144" y="203911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tracking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67144" y="25877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1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67144" y="283464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data only.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guidance.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E9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Latched: protocol-driven · async · 24/7 · IBCLC-vetted · personalized to her week and path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7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371600"/>
            <a:ext cx="5943600" cy="5943600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A8D5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Latched is the postpartum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companion she actually needs.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app delivering a 6-week guided breastfeeding experience. Protocol-driven. Personalized to her feeding path and baby’s exact week of life. Available at 3am—no appointment required.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822960"/>
            <a:ext cx="2377440" cy="1170432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0" y="822960"/>
            <a:ext cx="64008" cy="1170432"/>
          </a:xfrm>
          <a:prstGeom prst="rect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868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10528" y="1170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Chat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10528" y="14904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IBCLC-vetted answers, 24/7 async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194560"/>
            <a:ext cx="2377440" cy="1170432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2194560"/>
            <a:ext cx="64008" cy="1170432"/>
          </a:xfrm>
          <a:prstGeom prst="rect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240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0528" y="25420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8620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6-module crash course, path-specific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3566160"/>
            <a:ext cx="2377440" cy="1170432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3566160"/>
            <a:ext cx="64008" cy="1170432"/>
          </a:xfrm>
          <a:prstGeom prst="rect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611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10528" y="39136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Week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10528" y="42336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guide, baby named throughout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E9E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Personalized from minute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914400" cy="914400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81912" y="1691640"/>
            <a:ext cx="438912" cy="0"/>
          </a:xfrm>
          <a:prstGeom prst="line">
            <a:avLst/>
          </a:prstGeom>
          <a:noFill/>
          <a:ln w="25400">
            <a:solidFill>
              <a:srgbClr val="A8D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2677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1536192" cy="192024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26080"/>
            <a:ext cx="15361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Week, path, pump, goals.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40-question quiz—she’s exhausted.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50008" y="1234440"/>
            <a:ext cx="914400" cy="914400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50008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91840" y="1691640"/>
            <a:ext cx="438912" cy="0"/>
          </a:xfrm>
          <a:prstGeom prst="line">
            <a:avLst/>
          </a:prstGeom>
          <a:noFill/>
          <a:ln w="25400">
            <a:solidFill>
              <a:srgbClr val="A8D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22677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75688" y="2880360"/>
            <a:ext cx="1536192" cy="192024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75688" y="2926080"/>
            <a:ext cx="15361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routes to her path. Baby’s name on every card.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59936" y="1234440"/>
            <a:ext cx="914400" cy="914400"/>
          </a:xfrm>
          <a:prstGeom prst="ellipse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59936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01768" y="1691640"/>
            <a:ext cx="438912" cy="0"/>
          </a:xfrm>
          <a:prstGeom prst="line">
            <a:avLst/>
          </a:prstGeom>
          <a:noFill/>
          <a:ln w="25400">
            <a:solidFill>
              <a:srgbClr val="A8D5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22677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85616" y="2880360"/>
            <a:ext cx="1536192" cy="192024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2926080"/>
            <a:ext cx="15361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IBCLC-vetted chat. No wait.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answers, always.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9864" y="1234440"/>
            <a:ext cx="914400" cy="914400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9864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11696" y="1691640"/>
            <a:ext cx="438912" cy="0"/>
          </a:xfrm>
          <a:prstGeom prst="line">
            <a:avLst/>
          </a:prstGeom>
          <a:noFill/>
          <a:ln w="25400">
            <a:solidFill>
              <a:srgbClr val="A8D5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22677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Week-by-week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95544" y="2880360"/>
            <a:ext cx="1536192" cy="192024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2926080"/>
            <a:ext cx="15361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“Nora is cluster feeding— and that’s a good sign.”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79792" y="1234440"/>
            <a:ext cx="914400" cy="914400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79792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59752" y="22677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6-week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05472" y="2880360"/>
            <a:ext cx="1536192" cy="192024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2926080"/>
            <a:ext cx="15361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 + referral ask + extension into return-to-work.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E9E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LATCHED WINS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around what others refuse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4114800" cy="160020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53312"/>
            <a:ext cx="4114800" cy="54864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90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7A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24/7, no appointment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3am crisis is the highest-pain touchpoint. No competitor fills it with protocol-driven, async, IBCLC-reviewed support.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53312"/>
            <a:ext cx="4114800" cy="160020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53312"/>
            <a:ext cx="4114800" cy="54864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90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7A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Week-specific, not generic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85623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knows it’s week 3. “Your baby is cluster feeding” is different from a breastfeeding FAQ. Nobody else does postpartum weeks.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36392"/>
            <a:ext cx="4114800" cy="160020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36392"/>
            <a:ext cx="4114800" cy="54864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7A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Radically personalized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Baby’s name on every card. Her chosen address in every greeting. Path-specific curriculum. Feels built for her, not for moms in general.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136392"/>
            <a:ext cx="4114800" cy="160020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136392"/>
            <a:ext cx="4114800" cy="54864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7A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IBCLC-network distribution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63931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IBCLCs refer patients via unique link. App opens with the IBCLC’s name + photo. The trust signal that converts and the channel that scales without paid ads.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2D7A72"/>
          </a:solidFill>
          <a:ln w="12700">
            <a:solidFill>
              <a:srgbClr val="2D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A8D5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 PM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0 to working product—alone.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shown here was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solo—no agency, no team,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contractor.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617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Product · Brand · Content · Technical · Research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74920" y="457200"/>
            <a:ext cx="1874520" cy="1353312"/>
          </a:xfrm>
          <a:prstGeom prst="rect">
            <a:avLst/>
          </a:prstGeom>
          <a:solidFill>
            <a:srgbClr val="383838"/>
          </a:solidFill>
          <a:ln w="12700">
            <a:solidFill>
              <a:srgbClr val="2D7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74920" y="457200"/>
            <a:ext cx="1874520" cy="292608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4572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78638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v0.9 · Market sizing · Competitive landscape · Validation experiment design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86600" y="457200"/>
            <a:ext cx="1874520" cy="1353312"/>
          </a:xfrm>
          <a:prstGeom prst="rect">
            <a:avLst/>
          </a:prstGeom>
          <a:solidFill>
            <a:srgbClr val="383838"/>
          </a:solidFill>
          <a:ln w="12700">
            <a:solidFill>
              <a:srgbClr val="2D7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86600" y="457200"/>
            <a:ext cx="1874520" cy="292608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4572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78638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· Tenets · Color palette · Typography · Tone-of-voice rules · Accessibility standards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1965960"/>
            <a:ext cx="1874520" cy="1353312"/>
          </a:xfrm>
          <a:prstGeom prst="rect">
            <a:avLst/>
          </a:prstGeom>
          <a:solidFill>
            <a:srgbClr val="383838"/>
          </a:solidFill>
          <a:ln w="12700">
            <a:solidFill>
              <a:srgbClr val="2D7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74920" y="1965960"/>
            <a:ext cx="1874520" cy="292608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9659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229514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Experience Spec: 11 onboarding screens, 3 pillars, home screen, week 1–12 content framework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1965960"/>
            <a:ext cx="1874520" cy="1353312"/>
          </a:xfrm>
          <a:prstGeom prst="rect">
            <a:avLst/>
          </a:prstGeom>
          <a:solidFill>
            <a:srgbClr val="383838"/>
          </a:solidFill>
          <a:ln w="12700">
            <a:solidFill>
              <a:srgbClr val="2D7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1965960"/>
            <a:ext cx="1874520" cy="292608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9659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78040" y="229514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Smart-FAQ library: 100+ IBCLC-reviewed entries · Clinical tone-of-voice samples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3474720"/>
            <a:ext cx="1874520" cy="1353312"/>
          </a:xfrm>
          <a:prstGeom prst="rect">
            <a:avLst/>
          </a:prstGeom>
          <a:solidFill>
            <a:srgbClr val="383838"/>
          </a:solidFill>
          <a:ln w="12700">
            <a:solidFill>
              <a:srgbClr val="2D7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74920" y="3474720"/>
            <a:ext cx="1874520" cy="292608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474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380390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Supabase backend · Auth design · API schema · Semantic match architecture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86600" y="3474720"/>
            <a:ext cx="1874520" cy="1353312"/>
          </a:xfrm>
          <a:prstGeom prst="rect">
            <a:avLst/>
          </a:prstGeom>
          <a:solidFill>
            <a:srgbClr val="383838"/>
          </a:solidFill>
          <a:ln w="12700">
            <a:solidFill>
              <a:srgbClr val="2D7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86600" y="3474720"/>
            <a:ext cx="1874520" cy="292608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3474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78040" y="380390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IBCLC cold interview script · Design partner one-pager · Survey instrument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E9E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wedge, not a single product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520440"/>
          </a:xfrm>
          <a:prstGeom prst="rect">
            <a:avLst/>
          </a:prstGeom>
          <a:solidFill>
            <a:srgbClr val="2D7A72"/>
          </a:solidFill>
          <a:ln w="12700">
            <a:solidFill>
              <a:srgbClr val="2D7A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DCF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618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Direct-to-Consumer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DCF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not a subscription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2286000" cy="0"/>
          </a:xfrm>
          <a:prstGeom prst="line">
            <a:avLst/>
          </a:prstGeom>
          <a:noFill/>
          <a:ln w="6350">
            <a:solidFill>
              <a:srgbClr val="EDCF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guided protocol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2286000" cy="0"/>
          </a:xfrm>
          <a:prstGeom prst="line">
            <a:avLst/>
          </a:prstGeom>
          <a:noFill/>
          <a:ln w="6350">
            <a:solidFill>
              <a:srgbClr val="EDCF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IBCLC-vetted Quick Chat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67328"/>
            <a:ext cx="2286000" cy="0"/>
          </a:xfrm>
          <a:prstGeom prst="line">
            <a:avLst/>
          </a:prstGeom>
          <a:noFill/>
          <a:ln w="6350">
            <a:solidFill>
              <a:srgbClr val="EDCF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to path + week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87368"/>
            <a:ext cx="2286000" cy="0"/>
          </a:xfrm>
          <a:prstGeom prst="line">
            <a:avLst/>
          </a:prstGeom>
          <a:noFill/>
          <a:ln w="6350">
            <a:solidFill>
              <a:srgbClr val="EDCF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money-back guarantee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1234440"/>
            <a:ext cx="2651760" cy="352044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D5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1618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— Employer Benefits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0040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D5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200400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Per-employee subscription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127248"/>
            <a:ext cx="2286000" cy="0"/>
          </a:xfrm>
          <a:prstGeom prst="line">
            <a:avLst/>
          </a:prstGeom>
          <a:noFill/>
          <a:ln w="6350">
            <a:solidFill>
              <a:srgbClr val="A8D5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Maven-class employer packaging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447288"/>
            <a:ext cx="2286000" cy="0"/>
          </a:xfrm>
          <a:prstGeom prst="line">
            <a:avLst/>
          </a:prstGeom>
          <a:noFill/>
          <a:ln w="6350">
            <a:solidFill>
              <a:srgbClr val="A8D5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partnership model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767328"/>
            <a:ext cx="2286000" cy="0"/>
          </a:xfrm>
          <a:prstGeom prst="line">
            <a:avLst/>
          </a:prstGeom>
          <a:noFill/>
          <a:ln w="6350">
            <a:solidFill>
              <a:srgbClr val="A8D5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data dashboard for buyers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4087368"/>
            <a:ext cx="2286000" cy="0"/>
          </a:xfrm>
          <a:prstGeom prst="line">
            <a:avLst/>
          </a:prstGeom>
          <a:noFill/>
          <a:ln w="6350">
            <a:solidFill>
              <a:srgbClr val="A8D5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ACA-covered lactation benefit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1234440"/>
            <a:ext cx="2651760" cy="3520440"/>
          </a:xfrm>
          <a:prstGeom prst="rect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35040" y="1618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IBCLC Network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3504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Referral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035040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partnership / rev-share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127248"/>
            <a:ext cx="228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IBCLCs refer via unique link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447288"/>
            <a:ext cx="228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opens with IBCLC branding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3767328"/>
            <a:ext cx="228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handoff escalation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4087368"/>
            <a:ext cx="228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network scales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E9E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WHAT’S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→ MVP →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353312"/>
            <a:ext cx="2011680" cy="347472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353312"/>
            <a:ext cx="2011680" cy="73152"/>
          </a:xfrm>
          <a:prstGeom prst="rect">
            <a:avLst/>
          </a:prstGeom>
          <a:solidFill>
            <a:srgbClr val="A8D5D1"/>
          </a:solidFill>
          <a:ln w="12700">
            <a:solidFill>
              <a:srgbClr val="A8D5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A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0  —  Now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" y="2084832"/>
            <a:ext cx="128016" cy="128016"/>
          </a:xfrm>
          <a:prstGeom prst="ellipse">
            <a:avLst/>
          </a:prstGeom>
          <a:solidFill>
            <a:srgbClr val="A8D5D1"/>
          </a:solidFill>
          <a:ln w="12700">
            <a:solidFill>
              <a:srgbClr val="A8D5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029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survey in-field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" y="2724912"/>
            <a:ext cx="128016" cy="128016"/>
          </a:xfrm>
          <a:prstGeom prst="ellipse">
            <a:avLst/>
          </a:prstGeom>
          <a:solidFill>
            <a:srgbClr val="A8D5D1"/>
          </a:solidFill>
          <a:ln w="12700">
            <a:solidFill>
              <a:srgbClr val="A8D5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6700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/ Figma prototype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" y="3364992"/>
            <a:ext cx="128016" cy="128016"/>
          </a:xfrm>
          <a:prstGeom prst="ellipse">
            <a:avLst/>
          </a:prstGeom>
          <a:solidFill>
            <a:srgbClr val="A8D5D1"/>
          </a:solidFill>
          <a:ln w="12700">
            <a:solidFill>
              <a:srgbClr val="A8D5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3101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IBCLC advisor recruitment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" y="4005072"/>
            <a:ext cx="128016" cy="128016"/>
          </a:xfrm>
          <a:prstGeom prst="ellipse">
            <a:avLst/>
          </a:prstGeom>
          <a:solidFill>
            <a:srgbClr val="A8D5D1"/>
          </a:solidFill>
          <a:ln w="12700">
            <a:solidFill>
              <a:srgbClr val="A8D5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950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Wizard-of-Oz WTP test at $49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96312" y="1353312"/>
            <a:ext cx="2011680" cy="3474720"/>
          </a:xfrm>
          <a:prstGeom prst="rect">
            <a:avLst/>
          </a:prstGeom>
          <a:solidFill>
            <a:srgbClr val="2D7A72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1353312"/>
            <a:ext cx="2011680" cy="73152"/>
          </a:xfrm>
          <a:prstGeom prst="rect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481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 —  MVP Launch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33472" y="2084832"/>
            <a:ext cx="128016" cy="128016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43784" y="2029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wk 1–6 IBCLC-reviewed protocol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33472" y="2724912"/>
            <a:ext cx="128016" cy="128016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43784" y="26700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assessment + stepper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33472" y="3364992"/>
            <a:ext cx="128016" cy="128016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43784" y="33101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async Quick Chat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33472" y="4005072"/>
            <a:ext cx="128016" cy="128016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43784" y="3950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Flange sizing tool + pump library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45152" y="1353312"/>
            <a:ext cx="2011680" cy="3474720"/>
          </a:xfrm>
          <a:prstGeom prst="rect">
            <a:avLst/>
          </a:prstGeom>
          <a:solidFill>
            <a:srgbClr val="F5F0EA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1353312"/>
            <a:ext cx="2011680" cy="73152"/>
          </a:xfrm>
          <a:prstGeom prst="rect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481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A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 —  Expansion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82312" y="2084832"/>
            <a:ext cx="128016" cy="128016"/>
          </a:xfrm>
          <a:prstGeom prst="ellipse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2029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Return-to-work pumping module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82312" y="2724912"/>
            <a:ext cx="128016" cy="128016"/>
          </a:xfrm>
          <a:prstGeom prst="ellipse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26700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Spanish-language content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82312" y="3364992"/>
            <a:ext cx="128016" cy="128016"/>
          </a:xfrm>
          <a:prstGeom prst="ellipse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33101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NICU / preemie protocol vertical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82312" y="4005072"/>
            <a:ext cx="128016" cy="128016"/>
          </a:xfrm>
          <a:prstGeom prst="ellipse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3950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IBCLC video integration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93992" y="1353312"/>
            <a:ext cx="2011680" cy="3474720"/>
          </a:xfrm>
          <a:prstGeom prst="rect">
            <a:avLst/>
          </a:prstGeom>
          <a:solidFill>
            <a:srgbClr val="2D2926"/>
          </a:solidFill>
          <a:ln w="12700">
            <a:solidFill>
              <a:srgbClr val="E3D9C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93992" y="1353312"/>
            <a:ext cx="2011680" cy="73152"/>
          </a:xfrm>
          <a:prstGeom prst="rect">
            <a:avLst/>
          </a:prstGeom>
          <a:solidFill>
            <a:srgbClr val="A8D5D1"/>
          </a:solidFill>
          <a:ln w="12700">
            <a:solidFill>
              <a:srgbClr val="A8D5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1481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 —  B2B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931152" y="2084832"/>
            <a:ext cx="128016" cy="128016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41464" y="2029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benefits packaging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31152" y="2724912"/>
            <a:ext cx="128016" cy="128016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41464" y="26700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partnership model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31152" y="3364992"/>
            <a:ext cx="128016" cy="128016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41464" y="33101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data dashboard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31152" y="4005072"/>
            <a:ext cx="128016" cy="128016"/>
          </a:xfrm>
          <a:prstGeom prst="ellipse">
            <a:avLst/>
          </a:prstGeom>
          <a:solidFill>
            <a:srgbClr val="4E9E95"/>
          </a:solidFill>
          <a:ln w="12700">
            <a:solidFill>
              <a:srgbClr val="4E9E9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41464" y="3950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formal certification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457200"/>
            <a:ext cx="5029200" cy="5029200"/>
          </a:xfrm>
          <a:prstGeom prst="ellipse">
            <a:avLst/>
          </a:prstGeom>
          <a:solidFill>
            <a:srgbClr val="2D7A72"/>
          </a:solidFill>
          <a:ln w="12700">
            <a:solidFill>
              <a:srgbClr val="2D7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C17C5A"/>
          </a:solidFill>
          <a:ln w="12700">
            <a:solidFill>
              <a:srgbClr val="C1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Latched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D5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mom deserves a fair chance at breastfeeding—if she so chooses.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3090672"/>
            <a:ext cx="3200400" cy="0"/>
          </a:xfrm>
          <a:prstGeom prst="line">
            <a:avLst/>
          </a:prstGeom>
          <a:noFill/>
          <a:ln w="19050">
            <a:solidFill>
              <a:srgbClr val="C17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Ashley Hartwell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36393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D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Product Manager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0050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D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ashley.m.barnes08@gmail.com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Latched — Pitch Deck</dc:title>
  <dc:subject>PptxGenJS Presentation</dc:subject>
  <dc:creator>Ashley Hartwell</dc:creator>
  <cp:lastModifiedBy>Ashley Hartwell</cp:lastModifiedBy>
  <cp:revision>1</cp:revision>
  <dcterms:created xsi:type="dcterms:W3CDTF">2026-06-01T20:04:55Z</dcterms:created>
  <dcterms:modified xsi:type="dcterms:W3CDTF">2026-06-01T20:04:55Z</dcterms:modified>
</cp:coreProperties>
</file>